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E08FE3-C996-36AE-01B0-06967DB9A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D5F57F-F86A-FED6-2F45-D052EAF9E1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264FCD-945A-F84F-F143-54AFC0248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78119-15EA-4080-941F-4DD7275CC086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743CB9-924A-5A2D-2C0F-6CA1ECA3F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BF6C5D-6771-1A25-4B24-EC2D773AB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ADB1-6B83-4605-980D-6EBB4F2A02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942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8B916A-A30D-B404-EA6F-8A0DB1FB4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A6B510-3614-5548-DE07-FB2C216A8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3DA70C-2228-0456-7F76-01E853CF4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78119-15EA-4080-941F-4DD7275CC086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6FA3B0-AFDD-0FBC-6E8D-299695D4C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FC1239-2ECC-E220-938B-4D44C3A0E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ADB1-6B83-4605-980D-6EBB4F2A02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453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61AC67-F24D-970B-1B7A-6160D832F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E553BE-7A17-F5A2-12CB-0799EBDB6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83799B-8E0C-482E-C1ED-1E163041F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78119-15EA-4080-941F-4DD7275CC086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6A6A8F-AE5F-622E-B1FF-D780AB025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9A609A-64C6-6E1B-8215-73E799475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ADB1-6B83-4605-980D-6EBB4F2A02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121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65DBA-AF2A-760E-B3FB-9B0FE83B8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CF9E23-9BB5-5CB8-5A08-984F2C6DF7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8383DE-5F81-597B-5F27-D762AAB15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20570F-75BA-59B8-C9B5-365793C3B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78119-15EA-4080-941F-4DD7275CC086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A8CADC-2A43-C8F8-BEE3-BCDB7E375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681CF6-8772-B464-3EAB-22BE15735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ADB1-6B83-4605-980D-6EBB4F2A02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336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95FBC3-3651-B179-8F62-DAA2DA1D8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9482F1-3627-B704-7251-049540298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3F971A-C902-8F92-72AB-5078103B6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354EA49-6B42-8169-61F8-CFF89F29D4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D882692-B47A-D620-463D-A5D0824DFB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80B1143-F049-A644-C227-32AEAEAB2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78119-15EA-4080-941F-4DD7275CC086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C357EDB-B3C5-D102-2EB7-35BEA5B38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58AB3FF-7FAE-BCA9-B69D-CE73AE3D4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ADB1-6B83-4605-980D-6EBB4F2A02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913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635FB4-A82A-9030-89CD-3ABDFD87D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523D67-0A53-149F-1FA9-959E02A7A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78119-15EA-4080-941F-4DD7275CC086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B946D0E-9645-9A69-CD4E-5C1422283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E4DD80-8596-F5B7-36C5-58902F177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ADB1-6B83-4605-980D-6EBB4F2A02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576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374A59-AC73-0FB6-0E3B-4D5927F62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78119-15EA-4080-941F-4DD7275CC086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B6856C7-A612-192F-6B37-DD3EA6F14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850B39-E5FD-29F7-BBFE-C13462E0F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ADB1-6B83-4605-980D-6EBB4F2A02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29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589F7E-162B-9375-8529-697373B61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DBF26C-DA6B-57EE-FECB-1320D9071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768DDC-C8A9-9F51-250E-63245FB2F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C563E8-38C7-33A9-E595-F1AF7682B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78119-15EA-4080-941F-4DD7275CC086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E6638D-8608-6A45-A24E-A71996229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E41889-E0C8-1BE8-55E1-7582B2BC4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ADB1-6B83-4605-980D-6EBB4F2A02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121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E918B6-BD73-AA6C-777F-EE67AECFC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0D8C9ED-FD26-3DA9-2858-939B404BFF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A65609-11E7-8F57-851B-272AED7F7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DFB242-5D63-5292-F425-8C0CC360C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78119-15EA-4080-941F-4DD7275CC086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B7DAEA-96F2-CC96-1B93-8B1E9737C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8731DB-FDBB-ED1F-2D9C-5A3143E52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ADB1-6B83-4605-980D-6EBB4F2A02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223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4C20E1-C718-36B8-9254-F9228F266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B58780F-ED77-8692-9904-B40B99CA2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4184ED-78C0-C9F2-E829-7D164491F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78119-15EA-4080-941F-4DD7275CC086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E67928-4B3C-D501-9F00-AD7074DB3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D90442-69DB-7D17-348E-289FEE141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ADB1-6B83-4605-980D-6EBB4F2A02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499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FFE3A6D-6AA4-5B90-ED74-7794AB99B3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2FE5E4-A9B7-3A44-3F47-F81E2733B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D2BCBB-5143-533F-5A2C-E84C8A0BF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78119-15EA-4080-941F-4DD7275CC086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D41F3B-292B-713E-923D-A8BD73184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DE2140-DEA9-33BA-15AF-276BF24C4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ADB1-6B83-4605-980D-6EBB4F2A02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739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11FC0BC-1BC5-80DC-7D23-0C62A76E6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230248-507C-4E62-8E31-627C8D338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C11864-ED10-ECB3-16B2-EF51B4B56C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078119-15EA-4080-941F-4DD7275CC086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A0D14A-6F91-4CFB-226D-7447E2971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4A6FCE-489A-3087-C5EF-6600AB6DA7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3AADB1-6B83-4605-980D-6EBB4F2A02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822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可编辑训练框架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0_整体框架_虚线框">
            <a:extLst>
              <a:ext uri="{FF2B5EF4-FFF2-40B4-BE49-F238E27FC236}">
                <a16:creationId xmlns:a16="http://schemas.microsoft.com/office/drawing/2014/main" id="{DA40C9F0-8E60-199E-F325-4E25BF9B4645}"/>
              </a:ext>
            </a:extLst>
          </p:cNvPr>
          <p:cNvSpPr/>
          <p:nvPr/>
        </p:nvSpPr>
        <p:spPr>
          <a:xfrm>
            <a:off x="698500" y="342900"/>
            <a:ext cx="11049000" cy="6261100"/>
          </a:xfrm>
          <a:prstGeom prst="roundRect">
            <a:avLst>
              <a:gd name="adj" fmla="val 6000"/>
            </a:avLst>
          </a:prstGeom>
          <a:noFill/>
          <a:ln w="11430" cap="flat" cmpd="sng" algn="ctr">
            <a:solidFill>
              <a:srgbClr val="191919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10_SAC学习模块_虚线框">
            <a:extLst>
              <a:ext uri="{FF2B5EF4-FFF2-40B4-BE49-F238E27FC236}">
                <a16:creationId xmlns:a16="http://schemas.microsoft.com/office/drawing/2014/main" id="{FE89C56F-B103-781E-0261-58A6E2D5E7C1}"/>
              </a:ext>
            </a:extLst>
          </p:cNvPr>
          <p:cNvSpPr/>
          <p:nvPr/>
        </p:nvSpPr>
        <p:spPr>
          <a:xfrm>
            <a:off x="5207000" y="850900"/>
            <a:ext cx="2476500" cy="5651500"/>
          </a:xfrm>
          <a:prstGeom prst="roundRect">
            <a:avLst>
              <a:gd name="adj" fmla="val 6000"/>
            </a:avLst>
          </a:prstGeom>
          <a:noFill/>
          <a:ln w="11430" cap="flat" cmpd="sng" algn="ctr">
            <a:solidFill>
              <a:srgbClr val="191919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20_长期外部性支付模块_虚线框">
            <a:extLst>
              <a:ext uri="{FF2B5EF4-FFF2-40B4-BE49-F238E27FC236}">
                <a16:creationId xmlns:a16="http://schemas.microsoft.com/office/drawing/2014/main" id="{01ACA699-E0C2-0AAC-BBF2-93C01C898F98}"/>
              </a:ext>
            </a:extLst>
          </p:cNvPr>
          <p:cNvSpPr/>
          <p:nvPr/>
        </p:nvSpPr>
        <p:spPr>
          <a:xfrm>
            <a:off x="8255000" y="952500"/>
            <a:ext cx="3302000" cy="4216400"/>
          </a:xfrm>
          <a:prstGeom prst="roundRect">
            <a:avLst>
              <a:gd name="adj" fmla="val 6000"/>
            </a:avLst>
          </a:prstGeom>
          <a:noFill/>
          <a:ln w="11430" cap="flat" cmpd="sng" algn="ctr">
            <a:solidFill>
              <a:srgbClr val="191919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30_箭头_状态到上报">
            <a:extLst>
              <a:ext uri="{FF2B5EF4-FFF2-40B4-BE49-F238E27FC236}">
                <a16:creationId xmlns:a16="http://schemas.microsoft.com/office/drawing/2014/main" id="{08F7F69D-57BD-0471-1952-C51AC2E9EFCF}"/>
              </a:ext>
            </a:extLst>
          </p:cNvPr>
          <p:cNvCxnSpPr/>
          <p:nvPr/>
        </p:nvCxnSpPr>
        <p:spPr>
          <a:xfrm>
            <a:off x="2698750" y="1422400"/>
            <a:ext cx="0" cy="266700"/>
          </a:xfrm>
          <a:prstGeom prst="line">
            <a:avLst/>
          </a:prstGeom>
          <a:ln w="15875">
            <a:solidFill>
              <a:srgbClr val="19191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31_箭头_上报到决策">
            <a:extLst>
              <a:ext uri="{FF2B5EF4-FFF2-40B4-BE49-F238E27FC236}">
                <a16:creationId xmlns:a16="http://schemas.microsoft.com/office/drawing/2014/main" id="{F06F151D-6F3B-D87C-E498-1F5E0E0E1846}"/>
              </a:ext>
            </a:extLst>
          </p:cNvPr>
          <p:cNvCxnSpPr/>
          <p:nvPr/>
        </p:nvCxnSpPr>
        <p:spPr>
          <a:xfrm>
            <a:off x="2698750" y="2476500"/>
            <a:ext cx="0" cy="266700"/>
          </a:xfrm>
          <a:prstGeom prst="line">
            <a:avLst/>
          </a:prstGeom>
          <a:ln w="15875">
            <a:solidFill>
              <a:srgbClr val="19191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32_箭头_决策到环境">
            <a:extLst>
              <a:ext uri="{FF2B5EF4-FFF2-40B4-BE49-F238E27FC236}">
                <a16:creationId xmlns:a16="http://schemas.microsoft.com/office/drawing/2014/main" id="{EBE9EA2A-5255-EAAA-28B6-0D846DE47BCE}"/>
              </a:ext>
            </a:extLst>
          </p:cNvPr>
          <p:cNvCxnSpPr/>
          <p:nvPr/>
        </p:nvCxnSpPr>
        <p:spPr>
          <a:xfrm>
            <a:off x="2698750" y="3530600"/>
            <a:ext cx="0" cy="279400"/>
          </a:xfrm>
          <a:prstGeom prst="line">
            <a:avLst/>
          </a:prstGeom>
          <a:ln w="15875">
            <a:solidFill>
              <a:srgbClr val="19191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33_状态反馈_横线下">
            <a:extLst>
              <a:ext uri="{FF2B5EF4-FFF2-40B4-BE49-F238E27FC236}">
                <a16:creationId xmlns:a16="http://schemas.microsoft.com/office/drawing/2014/main" id="{5BBD9A78-3FE8-20BC-106D-F8F84157B5C1}"/>
              </a:ext>
            </a:extLst>
          </p:cNvPr>
          <p:cNvCxnSpPr/>
          <p:nvPr/>
        </p:nvCxnSpPr>
        <p:spPr>
          <a:xfrm flipH="1">
            <a:off x="1041400" y="4356100"/>
            <a:ext cx="673100" cy="0"/>
          </a:xfrm>
          <a:prstGeom prst="line">
            <a:avLst/>
          </a:prstGeom>
          <a:ln w="15875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34_状态反馈_竖线">
            <a:extLst>
              <a:ext uri="{FF2B5EF4-FFF2-40B4-BE49-F238E27FC236}">
                <a16:creationId xmlns:a16="http://schemas.microsoft.com/office/drawing/2014/main" id="{43FB10BF-C009-B9C4-230D-5AB4C6D99BC2}"/>
              </a:ext>
            </a:extLst>
          </p:cNvPr>
          <p:cNvCxnSpPr/>
          <p:nvPr/>
        </p:nvCxnSpPr>
        <p:spPr>
          <a:xfrm flipV="1">
            <a:off x="1041400" y="1028700"/>
            <a:ext cx="0" cy="3327400"/>
          </a:xfrm>
          <a:prstGeom prst="line">
            <a:avLst/>
          </a:prstGeom>
          <a:ln w="15875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35_状态反馈_横线与箭头">
            <a:extLst>
              <a:ext uri="{FF2B5EF4-FFF2-40B4-BE49-F238E27FC236}">
                <a16:creationId xmlns:a16="http://schemas.microsoft.com/office/drawing/2014/main" id="{49348161-BFE6-2264-3BB8-2872991BD04F}"/>
              </a:ext>
            </a:extLst>
          </p:cNvPr>
          <p:cNvCxnSpPr/>
          <p:nvPr/>
        </p:nvCxnSpPr>
        <p:spPr>
          <a:xfrm>
            <a:off x="1041400" y="1028700"/>
            <a:ext cx="673100" cy="0"/>
          </a:xfrm>
          <a:prstGeom prst="line">
            <a:avLst/>
          </a:prstGeom>
          <a:ln w="15875">
            <a:solidFill>
              <a:srgbClr val="19191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36_箭头_环境到用户经验池">
            <a:extLst>
              <a:ext uri="{FF2B5EF4-FFF2-40B4-BE49-F238E27FC236}">
                <a16:creationId xmlns:a16="http://schemas.microsoft.com/office/drawing/2014/main" id="{188F5D5B-10CC-34EB-24DB-E587B2FD56E6}"/>
              </a:ext>
            </a:extLst>
          </p:cNvPr>
          <p:cNvCxnSpPr/>
          <p:nvPr/>
        </p:nvCxnSpPr>
        <p:spPr>
          <a:xfrm flipH="1">
            <a:off x="1816100" y="4914900"/>
            <a:ext cx="368300" cy="266700"/>
          </a:xfrm>
          <a:prstGeom prst="curvedConnector3">
            <a:avLst/>
          </a:prstGeom>
          <a:ln w="14605">
            <a:solidFill>
              <a:srgbClr val="19191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37_箭头_环境到UAV经验池">
            <a:extLst>
              <a:ext uri="{FF2B5EF4-FFF2-40B4-BE49-F238E27FC236}">
                <a16:creationId xmlns:a16="http://schemas.microsoft.com/office/drawing/2014/main" id="{3BA291BF-7E50-5EB3-5724-010C68A163D4}"/>
              </a:ext>
            </a:extLst>
          </p:cNvPr>
          <p:cNvCxnSpPr/>
          <p:nvPr/>
        </p:nvCxnSpPr>
        <p:spPr>
          <a:xfrm>
            <a:off x="3238500" y="4914900"/>
            <a:ext cx="647700" cy="266700"/>
          </a:xfrm>
          <a:prstGeom prst="curvedConnector3">
            <a:avLst/>
          </a:prstGeom>
          <a:ln w="14605">
            <a:solidFill>
              <a:srgbClr val="19191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38_箭头_用户策略梯度">
            <a:extLst>
              <a:ext uri="{FF2B5EF4-FFF2-40B4-BE49-F238E27FC236}">
                <a16:creationId xmlns:a16="http://schemas.microsoft.com/office/drawing/2014/main" id="{F7174E46-28F0-04B3-15F4-D7AE86E913F1}"/>
              </a:ext>
            </a:extLst>
          </p:cNvPr>
          <p:cNvCxnSpPr/>
          <p:nvPr/>
        </p:nvCxnSpPr>
        <p:spPr>
          <a:xfrm flipV="1">
            <a:off x="6438900" y="1943100"/>
            <a:ext cx="0" cy="419100"/>
          </a:xfrm>
          <a:prstGeom prst="line">
            <a:avLst/>
          </a:prstGeom>
          <a:ln w="14605">
            <a:solidFill>
              <a:srgbClr val="19191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39_箭头_UAV策略梯度">
            <a:extLst>
              <a:ext uri="{FF2B5EF4-FFF2-40B4-BE49-F238E27FC236}">
                <a16:creationId xmlns:a16="http://schemas.microsoft.com/office/drawing/2014/main" id="{9F1581E5-7567-A3F8-B171-35B6D7CFCF0C}"/>
              </a:ext>
            </a:extLst>
          </p:cNvPr>
          <p:cNvCxnSpPr/>
          <p:nvPr/>
        </p:nvCxnSpPr>
        <p:spPr>
          <a:xfrm flipV="1">
            <a:off x="6438900" y="4597400"/>
            <a:ext cx="0" cy="406400"/>
          </a:xfrm>
          <a:prstGeom prst="line">
            <a:avLst/>
          </a:prstGeom>
          <a:ln w="14605">
            <a:solidFill>
              <a:srgbClr val="19191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40_箭头_用户Actor到上报">
            <a:extLst>
              <a:ext uri="{FF2B5EF4-FFF2-40B4-BE49-F238E27FC236}">
                <a16:creationId xmlns:a16="http://schemas.microsoft.com/office/drawing/2014/main" id="{50E4B416-9F7E-C387-18FA-E933D84F4E7D}"/>
              </a:ext>
            </a:extLst>
          </p:cNvPr>
          <p:cNvCxnSpPr/>
          <p:nvPr/>
        </p:nvCxnSpPr>
        <p:spPr>
          <a:xfrm flipH="1">
            <a:off x="3683000" y="1562100"/>
            <a:ext cx="1739900" cy="520700"/>
          </a:xfrm>
          <a:prstGeom prst="curvedConnector3">
            <a:avLst/>
          </a:prstGeom>
          <a:ln w="15875">
            <a:solidFill>
              <a:srgbClr val="19191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41_箭头_UAVActor到决策">
            <a:extLst>
              <a:ext uri="{FF2B5EF4-FFF2-40B4-BE49-F238E27FC236}">
                <a16:creationId xmlns:a16="http://schemas.microsoft.com/office/drawing/2014/main" id="{4AEC44E7-0F29-D414-DB90-E16F09156651}"/>
              </a:ext>
            </a:extLst>
          </p:cNvPr>
          <p:cNvCxnSpPr/>
          <p:nvPr/>
        </p:nvCxnSpPr>
        <p:spPr>
          <a:xfrm flipH="1" flipV="1">
            <a:off x="3683000" y="3136900"/>
            <a:ext cx="1739900" cy="1079500"/>
          </a:xfrm>
          <a:prstGeom prst="curvedConnector3">
            <a:avLst/>
          </a:prstGeom>
          <a:ln w="15875">
            <a:solidFill>
              <a:srgbClr val="19191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42_箭头_UAVActor到反事实样本">
            <a:extLst>
              <a:ext uri="{FF2B5EF4-FFF2-40B4-BE49-F238E27FC236}">
                <a16:creationId xmlns:a16="http://schemas.microsoft.com/office/drawing/2014/main" id="{57A6C36D-481D-7044-D3E3-A7489E6EA036}"/>
              </a:ext>
            </a:extLst>
          </p:cNvPr>
          <p:cNvCxnSpPr/>
          <p:nvPr/>
        </p:nvCxnSpPr>
        <p:spPr>
          <a:xfrm flipV="1">
            <a:off x="7454900" y="1574800"/>
            <a:ext cx="1003300" cy="2641600"/>
          </a:xfrm>
          <a:prstGeom prst="curvedConnector3">
            <a:avLst/>
          </a:prstGeom>
          <a:ln w="15875">
            <a:solidFill>
              <a:srgbClr val="19191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43_箭头_UAVCritic到福利对照">
            <a:extLst>
              <a:ext uri="{FF2B5EF4-FFF2-40B4-BE49-F238E27FC236}">
                <a16:creationId xmlns:a16="http://schemas.microsoft.com/office/drawing/2014/main" id="{75782C89-5C7B-137E-A8D8-D3175E2606A4}"/>
              </a:ext>
            </a:extLst>
          </p:cNvPr>
          <p:cNvCxnSpPr/>
          <p:nvPr/>
        </p:nvCxnSpPr>
        <p:spPr>
          <a:xfrm flipV="1">
            <a:off x="7454900" y="2844800"/>
            <a:ext cx="1003300" cy="2755900"/>
          </a:xfrm>
          <a:prstGeom prst="curvedConnector3">
            <a:avLst/>
          </a:prstGeom>
          <a:ln w="15875">
            <a:solidFill>
              <a:srgbClr val="19191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44_箭头_样本到福利对照">
            <a:extLst>
              <a:ext uri="{FF2B5EF4-FFF2-40B4-BE49-F238E27FC236}">
                <a16:creationId xmlns:a16="http://schemas.microsoft.com/office/drawing/2014/main" id="{AF435782-941D-6258-94E4-EAAE94239772}"/>
              </a:ext>
            </a:extLst>
          </p:cNvPr>
          <p:cNvCxnSpPr/>
          <p:nvPr/>
        </p:nvCxnSpPr>
        <p:spPr>
          <a:xfrm>
            <a:off x="9906000" y="1968500"/>
            <a:ext cx="0" cy="457200"/>
          </a:xfrm>
          <a:prstGeom prst="line">
            <a:avLst/>
          </a:prstGeom>
          <a:ln w="15875">
            <a:solidFill>
              <a:srgbClr val="19191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45_箭头_福利对照到支付">
            <a:extLst>
              <a:ext uri="{FF2B5EF4-FFF2-40B4-BE49-F238E27FC236}">
                <a16:creationId xmlns:a16="http://schemas.microsoft.com/office/drawing/2014/main" id="{A54BB119-8372-4C19-53F5-D9372C6240F6}"/>
              </a:ext>
            </a:extLst>
          </p:cNvPr>
          <p:cNvCxnSpPr/>
          <p:nvPr/>
        </p:nvCxnSpPr>
        <p:spPr>
          <a:xfrm>
            <a:off x="9906000" y="3251200"/>
            <a:ext cx="0" cy="419100"/>
          </a:xfrm>
          <a:prstGeom prst="line">
            <a:avLst/>
          </a:prstGeom>
          <a:ln w="15875">
            <a:solidFill>
              <a:srgbClr val="19191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50_系统状态">
            <a:extLst>
              <a:ext uri="{FF2B5EF4-FFF2-40B4-BE49-F238E27FC236}">
                <a16:creationId xmlns:a16="http://schemas.microsoft.com/office/drawing/2014/main" id="{29FC3FCE-FD4E-0E8C-01BF-072F8A0C0BBC}"/>
              </a:ext>
            </a:extLst>
          </p:cNvPr>
          <p:cNvSpPr/>
          <p:nvPr/>
        </p:nvSpPr>
        <p:spPr>
          <a:xfrm>
            <a:off x="1714500" y="635000"/>
            <a:ext cx="1968500" cy="787400"/>
          </a:xfrm>
          <a:prstGeom prst="roundRect">
            <a:avLst>
              <a:gd name="adj" fmla="val 5000"/>
            </a:avLst>
          </a:prstGeom>
          <a:solidFill>
            <a:srgbClr val="F4F4FF"/>
          </a:solidFill>
          <a:ln w="10795">
            <a:solidFill>
              <a:srgbClr val="1919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35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系统状态</a:t>
            </a:r>
          </a:p>
          <a:p>
            <a:pPr algn="ctr"/>
            <a:r>
              <a:rPr lang="en-US" altLang="zh-CN" sz="1300" i="1">
                <a:solidFill>
                  <a:srgbClr val="191919"/>
                </a:solidFill>
                <a:latin typeface="Cambria Math" panose="02040503050406030204" pitchFamily="18" charset="0"/>
                <a:ea typeface="SimSun" panose="02010600030101010101" pitchFamily="2" charset="-122"/>
              </a:rPr>
              <a:t>s(t)</a:t>
            </a:r>
            <a:endParaRPr lang="zh-CN" altLang="en-US" sz="1300" i="1">
              <a:solidFill>
                <a:srgbClr val="191919"/>
              </a:solidFill>
              <a:latin typeface="Cambria Math" panose="02040503050406030204" pitchFamily="18" charset="0"/>
              <a:ea typeface="SimSun" panose="02010600030101010101" pitchFamily="2" charset="-122"/>
            </a:endParaRPr>
          </a:p>
        </p:txBody>
      </p:sp>
      <p:sp>
        <p:nvSpPr>
          <p:cNvPr id="22" name="51_移动用户上报">
            <a:extLst>
              <a:ext uri="{FF2B5EF4-FFF2-40B4-BE49-F238E27FC236}">
                <a16:creationId xmlns:a16="http://schemas.microsoft.com/office/drawing/2014/main" id="{2C2FFD60-8BC6-CC9F-C59D-4DEC27487F9A}"/>
              </a:ext>
            </a:extLst>
          </p:cNvPr>
          <p:cNvSpPr/>
          <p:nvPr/>
        </p:nvSpPr>
        <p:spPr>
          <a:xfrm>
            <a:off x="1714500" y="1689100"/>
            <a:ext cx="1968500" cy="787400"/>
          </a:xfrm>
          <a:prstGeom prst="roundRect">
            <a:avLst>
              <a:gd name="adj" fmla="val 5000"/>
            </a:avLst>
          </a:prstGeom>
          <a:solidFill>
            <a:srgbClr val="F4F4FF"/>
          </a:solidFill>
          <a:ln w="10795">
            <a:solidFill>
              <a:srgbClr val="1919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25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移动用户上报</a:t>
            </a:r>
          </a:p>
          <a:p>
            <a:pPr algn="ctr"/>
            <a:r>
              <a:rPr lang="el-GR" altLang="zh-CN" sz="1200" i="1">
                <a:solidFill>
                  <a:srgbClr val="191919"/>
                </a:solidFill>
                <a:latin typeface="Cambria Math" panose="02040503050406030204" pitchFamily="18" charset="0"/>
                <a:ea typeface="SimSun" panose="02010600030101010101" pitchFamily="2" charset="-122"/>
              </a:rPr>
              <a:t>θ̂</a:t>
            </a:r>
            <a:r>
              <a:rPr lang="en-US" altLang="zh-CN" sz="1200" i="1">
                <a:solidFill>
                  <a:srgbClr val="191919"/>
                </a:solidFill>
                <a:latin typeface="Cambria Math" panose="02040503050406030204" pitchFamily="18" charset="0"/>
                <a:ea typeface="SimSun" panose="02010600030101010101" pitchFamily="2" charset="-122"/>
              </a:rPr>
              <a:t>ₙ(t) = </a:t>
            </a:r>
            <a:r>
              <a:rPr lang="el-GR" altLang="zh-CN" sz="1200" i="1">
                <a:solidFill>
                  <a:srgbClr val="191919"/>
                </a:solidFill>
                <a:latin typeface="Cambria Math" panose="02040503050406030204" pitchFamily="18" charset="0"/>
                <a:ea typeface="SimSun" panose="02010600030101010101" pitchFamily="2" charset="-122"/>
              </a:rPr>
              <a:t>π</a:t>
            </a:r>
            <a:r>
              <a:rPr lang="en-US" altLang="zh-CN" sz="1200" i="1">
                <a:solidFill>
                  <a:srgbClr val="191919"/>
                </a:solidFill>
                <a:latin typeface="Cambria Math" panose="02040503050406030204" pitchFamily="18" charset="0"/>
                <a:ea typeface="SimSun" panose="02010600030101010101" pitchFamily="2" charset="-122"/>
              </a:rPr>
              <a:t>ₙ(oₙ(t))</a:t>
            </a:r>
            <a:endParaRPr lang="zh-CN" altLang="en-US" sz="1200" i="1">
              <a:solidFill>
                <a:srgbClr val="191919"/>
              </a:solidFill>
              <a:latin typeface="Cambria Math" panose="02040503050406030204" pitchFamily="18" charset="0"/>
              <a:ea typeface="SimSun" panose="02010600030101010101" pitchFamily="2" charset="-122"/>
            </a:endParaRPr>
          </a:p>
        </p:txBody>
      </p:sp>
      <p:sp>
        <p:nvSpPr>
          <p:cNvPr id="23" name="52_UAV联合决策">
            <a:extLst>
              <a:ext uri="{FF2B5EF4-FFF2-40B4-BE49-F238E27FC236}">
                <a16:creationId xmlns:a16="http://schemas.microsoft.com/office/drawing/2014/main" id="{96B41CAC-39C2-A763-01B7-5E9DB7C2347E}"/>
              </a:ext>
            </a:extLst>
          </p:cNvPr>
          <p:cNvSpPr/>
          <p:nvPr/>
        </p:nvSpPr>
        <p:spPr>
          <a:xfrm>
            <a:off x="1714500" y="2743200"/>
            <a:ext cx="1968500" cy="787400"/>
          </a:xfrm>
          <a:prstGeom prst="roundRect">
            <a:avLst>
              <a:gd name="adj" fmla="val 5000"/>
            </a:avLst>
          </a:prstGeom>
          <a:solidFill>
            <a:srgbClr val="F4F4FF"/>
          </a:solidFill>
          <a:ln w="10795">
            <a:solidFill>
              <a:srgbClr val="1919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altLang="zh-CN" sz="125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UAV </a:t>
            </a:r>
            <a:r>
              <a:rPr lang="zh-CN" altLang="en-US" sz="125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联合决策</a:t>
            </a:r>
          </a:p>
          <a:p>
            <a:pPr algn="ctr"/>
            <a:r>
              <a:rPr lang="zh-CN" altLang="en-US" sz="1200" i="1">
                <a:solidFill>
                  <a:srgbClr val="191919"/>
                </a:solidFill>
                <a:latin typeface="Cambria Math" panose="02040503050406030204" pitchFamily="18" charset="0"/>
                <a:ea typeface="SimSun" panose="02010600030101010101" pitchFamily="2" charset="-122"/>
              </a:rPr>
              <a:t>₀</a:t>
            </a:r>
            <a:r>
              <a:rPr lang="en-US" altLang="zh-CN" sz="1200" i="1">
                <a:solidFill>
                  <a:srgbClr val="191919"/>
                </a:solidFill>
                <a:latin typeface="Cambria Math" panose="02040503050406030204" pitchFamily="18" charset="0"/>
                <a:ea typeface="SimSun" panose="02010600030101010101" pitchFamily="2" charset="-122"/>
              </a:rPr>
              <a:t>(t) = </a:t>
            </a:r>
            <a:r>
              <a:rPr lang="el-GR" altLang="zh-CN" sz="1200" i="1">
                <a:solidFill>
                  <a:srgbClr val="191919"/>
                </a:solidFill>
                <a:latin typeface="Cambria Math" panose="02040503050406030204" pitchFamily="18" charset="0"/>
                <a:ea typeface="SimSun" panose="02010600030101010101" pitchFamily="2" charset="-122"/>
              </a:rPr>
              <a:t>π₀(</a:t>
            </a:r>
            <a:r>
              <a:rPr lang="en-US" altLang="zh-CN" sz="1200" i="1">
                <a:solidFill>
                  <a:srgbClr val="191919"/>
                </a:solidFill>
                <a:latin typeface="Cambria Math" panose="02040503050406030204" pitchFamily="18" charset="0"/>
                <a:ea typeface="SimSun" panose="02010600030101010101" pitchFamily="2" charset="-122"/>
              </a:rPr>
              <a:t>o₀(t))</a:t>
            </a:r>
            <a:endParaRPr lang="zh-CN" altLang="en-US" sz="1200" i="1">
              <a:solidFill>
                <a:srgbClr val="191919"/>
              </a:solidFill>
              <a:latin typeface="Cambria Math" panose="02040503050406030204" pitchFamily="18" charset="0"/>
              <a:ea typeface="SimSun" panose="02010600030101010101" pitchFamily="2" charset="-122"/>
            </a:endParaRPr>
          </a:p>
        </p:txBody>
      </p:sp>
      <p:sp>
        <p:nvSpPr>
          <p:cNvPr id="24" name="53_UAV辅助MEC环境">
            <a:extLst>
              <a:ext uri="{FF2B5EF4-FFF2-40B4-BE49-F238E27FC236}">
                <a16:creationId xmlns:a16="http://schemas.microsoft.com/office/drawing/2014/main" id="{214B3D47-E4AA-ADD1-1FF3-F8AFC3C931B5}"/>
              </a:ext>
            </a:extLst>
          </p:cNvPr>
          <p:cNvSpPr/>
          <p:nvPr/>
        </p:nvSpPr>
        <p:spPr>
          <a:xfrm>
            <a:off x="1714500" y="3810000"/>
            <a:ext cx="1968500" cy="1104900"/>
          </a:xfrm>
          <a:prstGeom prst="roundRect">
            <a:avLst>
              <a:gd name="adj" fmla="val 5000"/>
            </a:avLst>
          </a:prstGeom>
          <a:solidFill>
            <a:srgbClr val="F4F4FF"/>
          </a:solidFill>
          <a:ln w="10795">
            <a:solidFill>
              <a:srgbClr val="1919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altLang="zh-CN" sz="125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UAV </a:t>
            </a:r>
            <a:r>
              <a:rPr lang="zh-CN" altLang="en-US" sz="125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辅助</a:t>
            </a:r>
          </a:p>
          <a:p>
            <a:pPr algn="ctr"/>
            <a:r>
              <a:rPr lang="en-US" altLang="zh-CN" sz="125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MEC </a:t>
            </a:r>
            <a:r>
              <a:rPr lang="zh-CN" altLang="en-US" sz="125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环境</a:t>
            </a:r>
          </a:p>
          <a:p>
            <a:pPr algn="ctr"/>
            <a:r>
              <a:rPr lang="zh-CN" altLang="en-US" sz="125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卸载、传输、计算与飞行</a:t>
            </a:r>
          </a:p>
        </p:txBody>
      </p:sp>
      <p:sp>
        <p:nvSpPr>
          <p:cNvPr id="25" name="54_用户经验池">
            <a:extLst>
              <a:ext uri="{FF2B5EF4-FFF2-40B4-BE49-F238E27FC236}">
                <a16:creationId xmlns:a16="http://schemas.microsoft.com/office/drawing/2014/main" id="{AF523706-7876-EFB2-9751-8FC6BF397484}"/>
              </a:ext>
            </a:extLst>
          </p:cNvPr>
          <p:cNvSpPr/>
          <p:nvPr/>
        </p:nvSpPr>
        <p:spPr>
          <a:xfrm>
            <a:off x="952500" y="5181600"/>
            <a:ext cx="1714500" cy="965200"/>
          </a:xfrm>
          <a:prstGeom prst="can">
            <a:avLst/>
          </a:prstGeom>
          <a:solidFill>
            <a:srgbClr val="F7F7F7"/>
          </a:solidFill>
          <a:ln w="10795">
            <a:solidFill>
              <a:srgbClr val="1919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15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用户经验池</a:t>
            </a:r>
          </a:p>
          <a:p>
            <a:pPr algn="ctr"/>
            <a:r>
              <a:rPr lang="en-US" altLang="zh-CN" sz="1100" i="1">
                <a:solidFill>
                  <a:srgbClr val="191919"/>
                </a:solidFill>
                <a:latin typeface="Cambria Math" panose="02040503050406030204" pitchFamily="18" charset="0"/>
                <a:ea typeface="SimSun" panose="02010600030101010101" pitchFamily="2" charset="-122"/>
              </a:rPr>
              <a:t>{ℬₙ}ₙ∈N</a:t>
            </a:r>
            <a:endParaRPr lang="zh-CN" altLang="en-US" sz="1100" i="1">
              <a:solidFill>
                <a:srgbClr val="191919"/>
              </a:solidFill>
              <a:latin typeface="Cambria Math" panose="02040503050406030204" pitchFamily="18" charset="0"/>
              <a:ea typeface="SimSun" panose="02010600030101010101" pitchFamily="2" charset="-122"/>
            </a:endParaRPr>
          </a:p>
        </p:txBody>
      </p:sp>
      <p:sp>
        <p:nvSpPr>
          <p:cNvPr id="26" name="55_UAV经验池">
            <a:extLst>
              <a:ext uri="{FF2B5EF4-FFF2-40B4-BE49-F238E27FC236}">
                <a16:creationId xmlns:a16="http://schemas.microsoft.com/office/drawing/2014/main" id="{3B6E57A4-78FA-8A16-51CD-1ACECAD9919D}"/>
              </a:ext>
            </a:extLst>
          </p:cNvPr>
          <p:cNvSpPr/>
          <p:nvPr/>
        </p:nvSpPr>
        <p:spPr>
          <a:xfrm>
            <a:off x="2844800" y="5181600"/>
            <a:ext cx="2133600" cy="965200"/>
          </a:xfrm>
          <a:prstGeom prst="can">
            <a:avLst/>
          </a:prstGeom>
          <a:solidFill>
            <a:srgbClr val="F7F7F7"/>
          </a:solidFill>
          <a:ln w="10795">
            <a:solidFill>
              <a:srgbClr val="1919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altLang="zh-CN" sz="115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UAV </a:t>
            </a:r>
            <a:r>
              <a:rPr lang="zh-CN" altLang="en-US" sz="115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经验池 </a:t>
            </a:r>
            <a:r>
              <a:rPr lang="en-US" altLang="zh-CN" sz="115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ℬ₀</a:t>
            </a:r>
          </a:p>
          <a:p>
            <a:pPr algn="ctr"/>
            <a:r>
              <a:rPr lang="zh-CN" altLang="en-US" sz="115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完整与反事实转移</a:t>
            </a:r>
          </a:p>
        </p:txBody>
      </p:sp>
      <p:sp>
        <p:nvSpPr>
          <p:cNvPr id="27" name="60_用户Actor">
            <a:extLst>
              <a:ext uri="{FF2B5EF4-FFF2-40B4-BE49-F238E27FC236}">
                <a16:creationId xmlns:a16="http://schemas.microsoft.com/office/drawing/2014/main" id="{5F3C9EF6-A8D9-A369-438D-9B3E3F795140}"/>
              </a:ext>
            </a:extLst>
          </p:cNvPr>
          <p:cNvSpPr/>
          <p:nvPr/>
        </p:nvSpPr>
        <p:spPr>
          <a:xfrm>
            <a:off x="5422900" y="1181100"/>
            <a:ext cx="2032000" cy="762000"/>
          </a:xfrm>
          <a:prstGeom prst="roundRect">
            <a:avLst>
              <a:gd name="adj" fmla="val 5000"/>
            </a:avLst>
          </a:prstGeom>
          <a:solidFill>
            <a:srgbClr val="EBF8FC"/>
          </a:solidFill>
          <a:ln w="10795">
            <a:solidFill>
              <a:srgbClr val="1919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18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用户 </a:t>
            </a:r>
            <a:r>
              <a:rPr lang="en-US" altLang="zh-CN" sz="118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Actor </a:t>
            </a:r>
            <a:r>
              <a:rPr lang="el-GR" altLang="zh-CN" sz="1180">
                <a:solidFill>
                  <a:srgbClr val="191919"/>
                </a:solidFill>
                <a:ea typeface="SimSun" panose="02010600030101010101" pitchFamily="2" charset="-122"/>
              </a:rPr>
              <a:t>π</a:t>
            </a:r>
            <a:r>
              <a:rPr lang="en-US" altLang="zh-CN" sz="118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ₙ</a:t>
            </a:r>
          </a:p>
          <a:p>
            <a:pPr algn="ctr"/>
            <a:r>
              <a:rPr lang="zh-CN" altLang="en-US" sz="118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生成类型上报</a:t>
            </a:r>
          </a:p>
        </p:txBody>
      </p:sp>
      <p:sp>
        <p:nvSpPr>
          <p:cNvPr id="28" name="61_用户Critic">
            <a:extLst>
              <a:ext uri="{FF2B5EF4-FFF2-40B4-BE49-F238E27FC236}">
                <a16:creationId xmlns:a16="http://schemas.microsoft.com/office/drawing/2014/main" id="{25BEFDBF-B518-F3F0-2064-7EBD9FC781AA}"/>
              </a:ext>
            </a:extLst>
          </p:cNvPr>
          <p:cNvSpPr/>
          <p:nvPr/>
        </p:nvSpPr>
        <p:spPr>
          <a:xfrm>
            <a:off x="5422900" y="2362200"/>
            <a:ext cx="2032000" cy="762000"/>
          </a:xfrm>
          <a:prstGeom prst="roundRect">
            <a:avLst>
              <a:gd name="adj" fmla="val 5000"/>
            </a:avLst>
          </a:prstGeom>
          <a:solidFill>
            <a:srgbClr val="EDFCED"/>
          </a:solidFill>
          <a:ln w="10795">
            <a:solidFill>
              <a:srgbClr val="1919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18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用户 </a:t>
            </a:r>
            <a:r>
              <a:rPr lang="en-US" altLang="zh-CN" sz="118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Critic Qₙ</a:t>
            </a:r>
          </a:p>
          <a:p>
            <a:pPr algn="ctr"/>
            <a:r>
              <a:rPr lang="zh-CN" altLang="en-US" sz="118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评估上报策略</a:t>
            </a:r>
          </a:p>
        </p:txBody>
      </p:sp>
      <p:sp>
        <p:nvSpPr>
          <p:cNvPr id="29" name="62_UAV_Actor">
            <a:extLst>
              <a:ext uri="{FF2B5EF4-FFF2-40B4-BE49-F238E27FC236}">
                <a16:creationId xmlns:a16="http://schemas.microsoft.com/office/drawing/2014/main" id="{BEA9F3A0-CE8F-EAED-CD04-2CAD72BBC6AA}"/>
              </a:ext>
            </a:extLst>
          </p:cNvPr>
          <p:cNvSpPr/>
          <p:nvPr/>
        </p:nvSpPr>
        <p:spPr>
          <a:xfrm>
            <a:off x="5422900" y="3835400"/>
            <a:ext cx="2032000" cy="762000"/>
          </a:xfrm>
          <a:prstGeom prst="roundRect">
            <a:avLst>
              <a:gd name="adj" fmla="val 5000"/>
            </a:avLst>
          </a:prstGeom>
          <a:solidFill>
            <a:srgbClr val="EBF8FC"/>
          </a:solidFill>
          <a:ln w="10795">
            <a:solidFill>
              <a:srgbClr val="1919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altLang="zh-CN" sz="118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UAV Actor </a:t>
            </a:r>
            <a:r>
              <a:rPr lang="el-GR" altLang="zh-CN" sz="1180">
                <a:solidFill>
                  <a:srgbClr val="191919"/>
                </a:solidFill>
                <a:ea typeface="SimSun" panose="02010600030101010101" pitchFamily="2" charset="-122"/>
              </a:rPr>
              <a:t>π₀</a:t>
            </a:r>
          </a:p>
          <a:p>
            <a:pPr algn="ctr"/>
            <a:r>
              <a:rPr lang="zh-CN" altLang="en-US" sz="118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生成联合决策</a:t>
            </a:r>
          </a:p>
        </p:txBody>
      </p:sp>
      <p:sp>
        <p:nvSpPr>
          <p:cNvPr id="30" name="63_UAV_Critic">
            <a:extLst>
              <a:ext uri="{FF2B5EF4-FFF2-40B4-BE49-F238E27FC236}">
                <a16:creationId xmlns:a16="http://schemas.microsoft.com/office/drawing/2014/main" id="{7592C6E3-2E48-0FDD-7469-B7011C5CF67F}"/>
              </a:ext>
            </a:extLst>
          </p:cNvPr>
          <p:cNvSpPr/>
          <p:nvPr/>
        </p:nvSpPr>
        <p:spPr>
          <a:xfrm>
            <a:off x="5422900" y="5003800"/>
            <a:ext cx="2032000" cy="1193800"/>
          </a:xfrm>
          <a:prstGeom prst="roundRect">
            <a:avLst>
              <a:gd name="adj" fmla="val 5000"/>
            </a:avLst>
          </a:prstGeom>
          <a:solidFill>
            <a:srgbClr val="EDFCED"/>
          </a:solidFill>
          <a:ln w="10795">
            <a:solidFill>
              <a:srgbClr val="1919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altLang="zh-CN" sz="115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UAV Critic</a:t>
            </a:r>
          </a:p>
          <a:p>
            <a:pPr algn="ctr"/>
            <a:r>
              <a:rPr lang="en-US" altLang="zh-CN" sz="1100" i="1">
                <a:solidFill>
                  <a:srgbClr val="191919"/>
                </a:solidFill>
                <a:latin typeface="Cambria Math" panose="02040503050406030204" pitchFamily="18" charset="0"/>
                <a:ea typeface="SimSun" panose="02010600030101010101" pitchFamily="2" charset="-122"/>
              </a:rPr>
              <a:t>Q₀, Q̂₀</a:t>
            </a:r>
          </a:p>
          <a:p>
            <a:pPr algn="ctr"/>
            <a:r>
              <a:rPr lang="zh-CN" altLang="en-US" sz="1100" i="1">
                <a:solidFill>
                  <a:srgbClr val="191919"/>
                </a:solidFill>
                <a:latin typeface="Cambria Math" panose="02040503050406030204" pitchFamily="18" charset="0"/>
                <a:ea typeface="SimSun" panose="02010600030101010101" pitchFamily="2" charset="-122"/>
              </a:rPr>
              <a:t>评估完整与反事实价值</a:t>
            </a:r>
          </a:p>
        </p:txBody>
      </p:sp>
      <p:sp>
        <p:nvSpPr>
          <p:cNvPr id="31" name="70_反事实样本构造">
            <a:extLst>
              <a:ext uri="{FF2B5EF4-FFF2-40B4-BE49-F238E27FC236}">
                <a16:creationId xmlns:a16="http://schemas.microsoft.com/office/drawing/2014/main" id="{B079114E-04D0-D437-2DDA-C6F4EC5F8C41}"/>
              </a:ext>
            </a:extLst>
          </p:cNvPr>
          <p:cNvSpPr/>
          <p:nvPr/>
        </p:nvSpPr>
        <p:spPr>
          <a:xfrm>
            <a:off x="8458200" y="1181100"/>
            <a:ext cx="2895600" cy="787400"/>
          </a:xfrm>
          <a:prstGeom prst="roundRect">
            <a:avLst>
              <a:gd name="adj" fmla="val 5000"/>
            </a:avLst>
          </a:prstGeom>
          <a:solidFill>
            <a:srgbClr val="FFF4E9"/>
          </a:solidFill>
          <a:ln w="10795">
            <a:solidFill>
              <a:srgbClr val="1919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23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反事实样本构造</a:t>
            </a:r>
          </a:p>
          <a:p>
            <a:pPr algn="ctr"/>
            <a:r>
              <a:rPr lang="el-GR" altLang="zh-CN" sz="1180" i="1">
                <a:solidFill>
                  <a:srgbClr val="191919"/>
                </a:solidFill>
                <a:latin typeface="Cambria Math" panose="02040503050406030204" pitchFamily="18" charset="0"/>
                <a:ea typeface="SimSun" panose="02010600030101010101" pitchFamily="2" charset="-122"/>
              </a:rPr>
              <a:t>κ = </a:t>
            </a:r>
            <a:r>
              <a:rPr lang="en-US" altLang="zh-CN" sz="1180" i="1">
                <a:solidFill>
                  <a:srgbClr val="191919"/>
                </a:solidFill>
                <a:latin typeface="Cambria Math" panose="02040503050406030204" pitchFamily="18" charset="0"/>
                <a:ea typeface="SimSun" panose="02010600030101010101" pitchFamily="2" charset="-122"/>
              </a:rPr>
              <a:t>n,   o₀⁻ⁿ(t)</a:t>
            </a:r>
            <a:endParaRPr lang="zh-CN" altLang="en-US" sz="1180" i="1">
              <a:solidFill>
                <a:srgbClr val="191919"/>
              </a:solidFill>
              <a:latin typeface="Cambria Math" panose="02040503050406030204" pitchFamily="18" charset="0"/>
              <a:ea typeface="SimSun" panose="02010600030101010101" pitchFamily="2" charset="-122"/>
            </a:endParaRPr>
          </a:p>
        </p:txBody>
      </p:sp>
      <p:sp>
        <p:nvSpPr>
          <p:cNvPr id="32" name="71_反事实长期福利对照">
            <a:extLst>
              <a:ext uri="{FF2B5EF4-FFF2-40B4-BE49-F238E27FC236}">
                <a16:creationId xmlns:a16="http://schemas.microsoft.com/office/drawing/2014/main" id="{E8A1AC10-0332-92D4-588B-EABEDA12B5A3}"/>
              </a:ext>
            </a:extLst>
          </p:cNvPr>
          <p:cNvSpPr/>
          <p:nvPr/>
        </p:nvSpPr>
        <p:spPr>
          <a:xfrm>
            <a:off x="8458200" y="2425700"/>
            <a:ext cx="2895600" cy="825500"/>
          </a:xfrm>
          <a:prstGeom prst="roundRect">
            <a:avLst>
              <a:gd name="adj" fmla="val 5000"/>
            </a:avLst>
          </a:prstGeom>
          <a:solidFill>
            <a:srgbClr val="FFF4E9"/>
          </a:solidFill>
          <a:ln w="10795">
            <a:solidFill>
              <a:srgbClr val="1919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20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反事实长期福利对照</a:t>
            </a:r>
          </a:p>
          <a:p>
            <a:pPr algn="ctr"/>
            <a:r>
              <a:rPr lang="en-US" altLang="zh-CN" sz="1150" i="1">
                <a:solidFill>
                  <a:srgbClr val="191919"/>
                </a:solidFill>
                <a:latin typeface="Cambria Math" panose="02040503050406030204" pitchFamily="18" charset="0"/>
                <a:ea typeface="SimSun" panose="02010600030101010101" pitchFamily="2" charset="-122"/>
              </a:rPr>
              <a:t>Q₀⁻ⁿ,* </a:t>
            </a:r>
            <a:r>
              <a:rPr lang="zh-CN" altLang="en-US" sz="1150" i="1">
                <a:solidFill>
                  <a:srgbClr val="191919"/>
                </a:solidFill>
                <a:latin typeface="Cambria Math" panose="02040503050406030204" pitchFamily="18" charset="0"/>
                <a:ea typeface="SimSun" panose="02010600030101010101" pitchFamily="2" charset="-122"/>
              </a:rPr>
              <a:t>与 </a:t>
            </a:r>
            <a:r>
              <a:rPr lang="en-US" altLang="zh-CN" sz="1150" i="1">
                <a:solidFill>
                  <a:srgbClr val="191919"/>
                </a:solidFill>
                <a:latin typeface="Cambria Math" panose="02040503050406030204" pitchFamily="18" charset="0"/>
                <a:ea typeface="SimSun" panose="02010600030101010101" pitchFamily="2" charset="-122"/>
              </a:rPr>
              <a:t>Q₀⁻ⁿ(Π₋ₙ(a₀*))</a:t>
            </a:r>
            <a:endParaRPr lang="zh-CN" altLang="en-US" sz="1150" i="1">
              <a:solidFill>
                <a:srgbClr val="191919"/>
              </a:solidFill>
              <a:latin typeface="Cambria Math" panose="02040503050406030204" pitchFamily="18" charset="0"/>
              <a:ea typeface="SimSun" panose="02010600030101010101" pitchFamily="2" charset="-122"/>
            </a:endParaRPr>
          </a:p>
        </p:txBody>
      </p:sp>
      <p:sp>
        <p:nvSpPr>
          <p:cNvPr id="33" name="72_外部性支付">
            <a:extLst>
              <a:ext uri="{FF2B5EF4-FFF2-40B4-BE49-F238E27FC236}">
                <a16:creationId xmlns:a16="http://schemas.microsoft.com/office/drawing/2014/main" id="{A626006C-CC29-48E5-DBB4-74F722789B54}"/>
              </a:ext>
            </a:extLst>
          </p:cNvPr>
          <p:cNvSpPr/>
          <p:nvPr/>
        </p:nvSpPr>
        <p:spPr>
          <a:xfrm>
            <a:off x="8458200" y="3670300"/>
            <a:ext cx="2895600" cy="1168400"/>
          </a:xfrm>
          <a:prstGeom prst="roundRect">
            <a:avLst>
              <a:gd name="adj" fmla="val 5000"/>
            </a:avLst>
          </a:prstGeom>
          <a:solidFill>
            <a:srgbClr val="FFF4E9"/>
          </a:solidFill>
          <a:ln w="10795">
            <a:solidFill>
              <a:srgbClr val="1919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zh-CN" altLang="en-US" sz="120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外部性支付</a:t>
            </a:r>
          </a:p>
          <a:p>
            <a:pPr algn="ctr"/>
            <a:r>
              <a:rPr lang="en-US" altLang="zh-CN" sz="1150" i="1">
                <a:solidFill>
                  <a:srgbClr val="191919"/>
                </a:solidFill>
                <a:latin typeface="Cambria Math" panose="02040503050406030204" pitchFamily="18" charset="0"/>
                <a:ea typeface="SimSun" panose="02010600030101010101" pitchFamily="2" charset="-122"/>
              </a:rPr>
              <a:t>pₙ = Q₀⁻ⁿ,* −</a:t>
            </a:r>
          </a:p>
          <a:p>
            <a:pPr algn="ctr"/>
            <a:r>
              <a:rPr lang="en-US" altLang="zh-CN" sz="1150" i="1">
                <a:solidFill>
                  <a:srgbClr val="191919"/>
                </a:solidFill>
                <a:latin typeface="Cambria Math" panose="02040503050406030204" pitchFamily="18" charset="0"/>
                <a:ea typeface="SimSun" panose="02010600030101010101" pitchFamily="2" charset="-122"/>
              </a:rPr>
              <a:t>Q₀⁻ⁿ(</a:t>
            </a:r>
            <a:r>
              <a:rPr lang="el-GR" altLang="zh-CN" sz="1150" i="1">
                <a:solidFill>
                  <a:srgbClr val="191919"/>
                </a:solidFill>
                <a:latin typeface="Cambria Math" panose="02040503050406030204" pitchFamily="18" charset="0"/>
                <a:ea typeface="SimSun" panose="02010600030101010101" pitchFamily="2" charset="-122"/>
              </a:rPr>
              <a:t>Π₋</a:t>
            </a:r>
            <a:r>
              <a:rPr lang="en-US" altLang="zh-CN" sz="1150" i="1">
                <a:solidFill>
                  <a:srgbClr val="191919"/>
                </a:solidFill>
                <a:latin typeface="Cambria Math" panose="02040503050406030204" pitchFamily="18" charset="0"/>
                <a:ea typeface="SimSun" panose="02010600030101010101" pitchFamily="2" charset="-122"/>
              </a:rPr>
              <a:t>ₙ(a₀*))</a:t>
            </a:r>
            <a:endParaRPr lang="zh-CN" altLang="en-US" sz="1150" i="1">
              <a:solidFill>
                <a:srgbClr val="191919"/>
              </a:solidFill>
              <a:latin typeface="Cambria Math" panose="02040503050406030204" pitchFamily="18" charset="0"/>
              <a:ea typeface="SimSun" panose="02010600030101010101" pitchFamily="2" charset="-122"/>
            </a:endParaRPr>
          </a:p>
        </p:txBody>
      </p:sp>
      <p:sp>
        <p:nvSpPr>
          <p:cNvPr id="34" name="80_总标题">
            <a:extLst>
              <a:ext uri="{FF2B5EF4-FFF2-40B4-BE49-F238E27FC236}">
                <a16:creationId xmlns:a16="http://schemas.microsoft.com/office/drawing/2014/main" id="{EC0932E0-1B3D-529A-634D-5CB2F87143D4}"/>
              </a:ext>
            </a:extLst>
          </p:cNvPr>
          <p:cNvSpPr txBox="1"/>
          <p:nvPr/>
        </p:nvSpPr>
        <p:spPr>
          <a:xfrm>
            <a:off x="3810000" y="160094"/>
            <a:ext cx="4826000" cy="26161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12700" tIns="0" rIns="12700" bIns="0" rtlCol="0" anchor="ctr">
            <a:spAutoFit/>
          </a:bodyPr>
          <a:lstStyle/>
          <a:p>
            <a:pPr algn="ctr"/>
            <a:r>
              <a:rPr lang="zh-CN" altLang="en-US" sz="1700" b="1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所提长期外部性感知多智能体 </a:t>
            </a:r>
            <a:r>
              <a:rPr lang="en-US" altLang="zh-CN" sz="1700" b="1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SAC </a:t>
            </a:r>
            <a:r>
              <a:rPr lang="zh-CN" altLang="en-US" sz="1700" b="1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训练框架</a:t>
            </a:r>
          </a:p>
        </p:txBody>
      </p:sp>
      <p:sp>
        <p:nvSpPr>
          <p:cNvPr id="35" name="81_SAC模块标题">
            <a:extLst>
              <a:ext uri="{FF2B5EF4-FFF2-40B4-BE49-F238E27FC236}">
                <a16:creationId xmlns:a16="http://schemas.microsoft.com/office/drawing/2014/main" id="{D198273D-4AB7-72FF-1F9E-E8E300C90B39}"/>
              </a:ext>
            </a:extLst>
          </p:cNvPr>
          <p:cNvSpPr txBox="1"/>
          <p:nvPr/>
        </p:nvSpPr>
        <p:spPr>
          <a:xfrm>
            <a:off x="5105400" y="641536"/>
            <a:ext cx="2692400" cy="238527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12700" tIns="0" rIns="12700" bIns="0" rtlCol="0" anchor="ctr">
            <a:spAutoFit/>
          </a:bodyPr>
          <a:lstStyle/>
          <a:p>
            <a:pPr algn="ctr"/>
            <a:r>
              <a:rPr lang="zh-CN" altLang="en-US" sz="1550" b="1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多智能体 </a:t>
            </a:r>
            <a:r>
              <a:rPr lang="en-US" altLang="zh-CN" sz="1550" b="1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SAC </a:t>
            </a:r>
            <a:r>
              <a:rPr lang="zh-CN" altLang="en-US" sz="1550" b="1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学习模块</a:t>
            </a:r>
          </a:p>
        </p:txBody>
      </p:sp>
      <p:sp>
        <p:nvSpPr>
          <p:cNvPr id="36" name="82_支付模块标题">
            <a:extLst>
              <a:ext uri="{FF2B5EF4-FFF2-40B4-BE49-F238E27FC236}">
                <a16:creationId xmlns:a16="http://schemas.microsoft.com/office/drawing/2014/main" id="{1D2471F1-F3C7-8E69-4CD7-6D7EFB113186}"/>
              </a:ext>
            </a:extLst>
          </p:cNvPr>
          <p:cNvSpPr txBox="1"/>
          <p:nvPr/>
        </p:nvSpPr>
        <p:spPr>
          <a:xfrm>
            <a:off x="8648700" y="743136"/>
            <a:ext cx="2514600" cy="238527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12700" tIns="0" rIns="12700" bIns="0" rtlCol="0" anchor="ctr">
            <a:spAutoFit/>
          </a:bodyPr>
          <a:lstStyle/>
          <a:p>
            <a:pPr algn="ctr"/>
            <a:r>
              <a:rPr lang="zh-CN" altLang="en-US" sz="1550" b="1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长期外部性支付模块</a:t>
            </a:r>
          </a:p>
        </p:txBody>
      </p:sp>
      <p:sp>
        <p:nvSpPr>
          <p:cNvPr id="37" name="83_状态反馈标签">
            <a:extLst>
              <a:ext uri="{FF2B5EF4-FFF2-40B4-BE49-F238E27FC236}">
                <a16:creationId xmlns:a16="http://schemas.microsoft.com/office/drawing/2014/main" id="{17DAF4ED-003F-30DE-C5CE-66A055592A25}"/>
              </a:ext>
            </a:extLst>
          </p:cNvPr>
          <p:cNvSpPr txBox="1"/>
          <p:nvPr/>
        </p:nvSpPr>
        <p:spPr>
          <a:xfrm>
            <a:off x="304800" y="2661208"/>
            <a:ext cx="736600" cy="161583"/>
          </a:xfrm>
          <a:prstGeom prst="rect">
            <a:avLst/>
          </a:prstGeom>
          <a:noFill/>
        </p:spPr>
        <p:txBody>
          <a:bodyPr vert="horz" wrap="square" lIns="12700" tIns="0" rIns="12700" bIns="0" rtlCol="0" anchor="ctr">
            <a:spAutoFit/>
          </a:bodyPr>
          <a:lstStyle/>
          <a:p>
            <a:pPr algn="ctr"/>
            <a:r>
              <a:rPr lang="en-US" altLang="zh-CN" sz="1050">
                <a:solidFill>
                  <a:srgbClr val="191919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s(t+1)</a:t>
            </a:r>
            <a:endParaRPr lang="zh-CN" altLang="en-US" sz="1050">
              <a:solidFill>
                <a:srgbClr val="191919"/>
              </a:solidFill>
              <a:latin typeface="Cambria Math" panose="02040503050406030204" pitchFamily="18" charset="0"/>
            </a:endParaRPr>
          </a:p>
        </p:txBody>
      </p:sp>
      <p:sp>
        <p:nvSpPr>
          <p:cNvPr id="38" name="84_用户策略梯度标签">
            <a:extLst>
              <a:ext uri="{FF2B5EF4-FFF2-40B4-BE49-F238E27FC236}">
                <a16:creationId xmlns:a16="http://schemas.microsoft.com/office/drawing/2014/main" id="{559A8D97-D51C-043A-B5D9-EA7BF577CBE0}"/>
              </a:ext>
            </a:extLst>
          </p:cNvPr>
          <p:cNvSpPr txBox="1"/>
          <p:nvPr/>
        </p:nvSpPr>
        <p:spPr>
          <a:xfrm>
            <a:off x="6527800" y="2084703"/>
            <a:ext cx="762000" cy="146194"/>
          </a:xfrm>
          <a:prstGeom prst="rect">
            <a:avLst/>
          </a:prstGeom>
          <a:noFill/>
        </p:spPr>
        <p:txBody>
          <a:bodyPr vert="horz" wrap="square" lIns="12700" tIns="0" rIns="12700" bIns="0" rtlCol="0" anchor="ctr">
            <a:spAutoFit/>
          </a:bodyPr>
          <a:lstStyle/>
          <a:p>
            <a:r>
              <a:rPr lang="zh-CN" altLang="en-US" sz="95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策略梯度</a:t>
            </a:r>
          </a:p>
        </p:txBody>
      </p:sp>
      <p:sp>
        <p:nvSpPr>
          <p:cNvPr id="39" name="85_UAV策略梯度标签">
            <a:extLst>
              <a:ext uri="{FF2B5EF4-FFF2-40B4-BE49-F238E27FC236}">
                <a16:creationId xmlns:a16="http://schemas.microsoft.com/office/drawing/2014/main" id="{766E0454-49EC-5355-AA05-92CC98D471BB}"/>
              </a:ext>
            </a:extLst>
          </p:cNvPr>
          <p:cNvSpPr txBox="1"/>
          <p:nvPr/>
        </p:nvSpPr>
        <p:spPr>
          <a:xfrm>
            <a:off x="6527800" y="4726303"/>
            <a:ext cx="762000" cy="146194"/>
          </a:xfrm>
          <a:prstGeom prst="rect">
            <a:avLst/>
          </a:prstGeom>
          <a:noFill/>
        </p:spPr>
        <p:txBody>
          <a:bodyPr vert="horz" wrap="square" lIns="12700" tIns="0" rIns="12700" bIns="0" rtlCol="0" anchor="ctr">
            <a:spAutoFit/>
          </a:bodyPr>
          <a:lstStyle/>
          <a:p>
            <a:r>
              <a:rPr lang="zh-CN" altLang="en-US" sz="950">
                <a:solidFill>
                  <a:srgbClr val="19191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策略梯度</a:t>
            </a:r>
          </a:p>
        </p:txBody>
      </p:sp>
    </p:spTree>
    <p:extLst>
      <p:ext uri="{BB962C8B-B14F-4D97-AF65-F5344CB8AC3E}">
        <p14:creationId xmlns:p14="http://schemas.microsoft.com/office/powerpoint/2010/main" val="2127728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</Words>
  <Application>Microsoft Office PowerPoint</Application>
  <PresentationFormat>自定义</PresentationFormat>
  <Paragraphs>35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SimSun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</dc:creator>
  <cp:lastModifiedBy>ME</cp:lastModifiedBy>
  <cp:revision>1</cp:revision>
  <dcterms:created xsi:type="dcterms:W3CDTF">2026-09-08T03:48:16Z</dcterms:created>
  <dcterms:modified xsi:type="dcterms:W3CDTF">2026-09-08T03:48:16Z</dcterms:modified>
</cp:coreProperties>
</file>